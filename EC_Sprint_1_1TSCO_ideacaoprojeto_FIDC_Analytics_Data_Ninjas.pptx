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A832DE-1CD5-4FB4-9ADE-3C5A31821208}">
  <a:tblStyle styleId="{ECA832DE-1CD5-4FB4-9ADE-3C5A31821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5.xml"/><Relationship Id="rId22" Type="http://schemas.openxmlformats.org/officeDocument/2006/relationships/font" Target="fonts/Nunito-italic.fntdata"/><Relationship Id="rId10" Type="http://schemas.openxmlformats.org/officeDocument/2006/relationships/slide" Target="slides/slide4.xml"/><Relationship Id="rId21" Type="http://schemas.openxmlformats.org/officeDocument/2006/relationships/font" Target="fonts/Nuni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62eb97d3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162eb97d3_2_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62eb97d3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162eb97d3_2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62eb97d3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162eb97d3_2_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162eb97d3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162eb97d3_2_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62eb97d3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162eb97d3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62eb97d3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162eb97d3_2_1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62eb97d3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162eb97d3_2_1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162eb97d3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162eb97d3_2_1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62eb97d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162eb97d3_0_5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162eb97d3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a162eb97d3_0_5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62eb97d3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162eb97d3_2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62eb97d3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162eb97d3_0_5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162eb97d3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162eb97d3_2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42475" y="1150948"/>
            <a:ext cx="8788500" cy="429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ce gráfica do usuário, Aplicativo&#10;&#10;Descrição gerada automaticamente" id="135" name="Google Shape;135;p14"/>
          <p:cNvPicPr preferRelativeResize="0"/>
          <p:nvPr/>
        </p:nvPicPr>
        <p:blipFill rotWithShape="1">
          <a:blip r:embed="rId3">
            <a:alphaModFix/>
          </a:blip>
          <a:srcRect b="-1" l="426" r="0" t="0"/>
          <a:stretch/>
        </p:blipFill>
        <p:spPr>
          <a:xfrm>
            <a:off x="15" y="962"/>
            <a:ext cx="9143986" cy="5142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title="ChatGPT Image 7 de nov. de 2025, 16_37_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01275" y="1756200"/>
            <a:ext cx="4813225" cy="303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ctrTitle"/>
          </p:nvPr>
        </p:nvSpPr>
        <p:spPr>
          <a:xfrm>
            <a:off x="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FIDC ANALYTICS</a:t>
            </a:r>
            <a:endParaRPr sz="3500">
              <a:solidFill>
                <a:schemeClr val="dk1"/>
              </a:solidFill>
            </a:endParaRPr>
          </a:p>
        </p:txBody>
      </p:sp>
      <p:graphicFrame>
        <p:nvGraphicFramePr>
          <p:cNvPr id="142" name="Google Shape;142;p15"/>
          <p:cNvGraphicFramePr/>
          <p:nvPr/>
        </p:nvGraphicFramePr>
        <p:xfrm>
          <a:off x="2895725" y="100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{ECA832DE-1CD5-4FB4-9ADE-3C5A31821208}</a:tableStyleId>
              </a:tblPr>
              <a:tblGrid>
                <a:gridCol w="3009325"/>
                <a:gridCol w="2671975"/>
              </a:tblGrid>
              <a:tr h="5942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TURMA </a:t>
                      </a:r>
                      <a:r>
                        <a:rPr lang="pt-BR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1TSCOR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Grupo: Data Ninjas</a:t>
                      </a:r>
                      <a:endParaRPr sz="15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</a:tr>
              <a:tr h="38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Nome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5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</a:t>
                      </a:r>
                      <a:endParaRPr b="1" sz="15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Edivan Junior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567372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Gabriel Rodrigues Alves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José Ricardo dos Prazeres Filho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567393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Kevin Picoli Silveira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566961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Renata Rocha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566662</a:t>
                      </a:r>
                      <a:endParaRPr sz="15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9FB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3" name="Google Shape;143;p15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128975" y="2094150"/>
            <a:ext cx="87051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500"/>
              <a:t>Inteligência de Dados para Mitigação de Riscos no Mercado de Recebíveis</a:t>
            </a:r>
            <a:endParaRPr sz="65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12500"/>
              <a:buNone/>
            </a:pPr>
            <a:r>
              <a:t/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24900" y="2571750"/>
            <a:ext cx="72012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-237053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Noto Sans Symbols"/>
              <a:buChar char="▪"/>
            </a:pPr>
            <a:r>
              <a:rPr lang="pt-BR" sz="6132">
                <a:solidFill>
                  <a:schemeClr val="dk2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Projeto de análise preditiva e inteligência de dados que utiliza informações transacionais e comportamentais das bases da Núclea para prever inadimplência, avaliar liquidez e aumentar a segurança nas operações de Fundos de Investimento em Direitos Creditórios (FIDC).</a:t>
            </a:r>
            <a:endParaRPr sz="6132">
              <a:solidFill>
                <a:schemeClr val="dk2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dk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>
            <p:ph type="ctr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FIDC ANALYTICS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151" name="Google Shape;151;p16" title="ChatGPT Image 7 de nov. de 2025, 16_37_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386950" y="2256000"/>
            <a:ext cx="8235300" cy="28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O mercado de Fundos de Investimento em Direitos Creditórios (FIDC) é um dos pilares da economia brasileira, movimentando mais de R$ 400 bilhões em 2024 (ANBIMA). No entanto, o setor enfrenta desafios estruturais como assimetria de informações, riscos de crédito elevados, baixa liquidez e dificuldade na precificação dos ativos.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Esses problemas dificultam a análise precisa da qualidade dos recebíveis e elevam o custo de captação, especialmente para fundos que operam com carteiras pulverizadas ou lastreadas em crédito corporativo de pequenas e médias empresas.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A Núclea, com sua infraestrutura tecnológica e bases transacionais, oferece uma oportunidade única para reduzir esses riscos através de ciência de dados, integrando informações internas e externas para apoiar a tomada de decisão dos gestores e aumentar a confiança dos investidores.</a:t>
            </a:r>
            <a:endParaRPr sz="1500"/>
          </a:p>
          <a:p>
            <a:pPr indent="-508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 txBox="1"/>
          <p:nvPr>
            <p:ph idx="4294967295" type="ctr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Contextualização do Problema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158" name="Google Shape;158;p17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257975" y="2266200"/>
            <a:ext cx="8483100" cy="23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500"/>
              <a:t>Como prever e mitigar o risco de inadimplência e perda de liquidez nas carteiras de FIDCs, utilizando dados reais de pagamentos e recebíveis?</a:t>
            </a:r>
            <a:endParaRPr sz="1500"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/>
              <a:t>Hoje, a avaliação de risco no mercado é majoritariamente reativa e baseada em informações fragmentadas. Isso reduz a capacidade de antecipar inadimplências, limita a diversificação de carteiras e afeta a atratividade do setor para novos investidores.</a:t>
            </a:r>
            <a:endParaRPr sz="1500"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/>
              <a:t>Nosso projeto busca transformar dados históricos de boletos e indicadores de liquidez em modelos preditivos e painéis analíticos, permitindo decisões mais seguras e ágeis.</a:t>
            </a:r>
            <a:endParaRPr sz="1500"/>
          </a:p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Problema a Ser Resolvido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165" name="Google Shape;165;p18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456400" y="2425500"/>
            <a:ext cx="8245200" cy="205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Gestores e analistas de FIDCs: precisam de ferramentas de apoio à decisão baseadas em dados confiáveis.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Investidores institucionais: buscam reduzir riscos de crédito e aumentar a transparência.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Fintechs e empresas originadoras de crédito: interessadas em avaliar a qualidade de seus recebíveis.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Órgãos reguladores (CVM, ANBIMA): beneficiados por maior governança e integridade informacional no mercado.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500"/>
          </a:p>
        </p:txBody>
      </p:sp>
      <p:sp>
        <p:nvSpPr>
          <p:cNvPr id="171" name="Google Shape;171;p19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Público-Alvo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172" name="Google Shape;172;p19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425625" y="2621375"/>
            <a:ext cx="27777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pt-BR" sz="1500"/>
              <a:t>Etapas principais</a:t>
            </a:r>
            <a:endParaRPr b="1" sz="1500"/>
          </a:p>
          <a:p>
            <a:pPr indent="-3238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t/>
            </a:r>
            <a:endParaRPr sz="1500"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00"/>
          </a:p>
          <a:p>
            <a:pPr indent="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500"/>
          </a:p>
        </p:txBody>
      </p:sp>
      <p:sp>
        <p:nvSpPr>
          <p:cNvPr id="178" name="Google Shape;178;p20"/>
          <p:cNvSpPr txBox="1"/>
          <p:nvPr/>
        </p:nvSpPr>
        <p:spPr>
          <a:xfrm>
            <a:off x="244775" y="1998375"/>
            <a:ext cx="8515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78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FIDC Analytics propõe uma abordagem baseada em ciência de dados e inteligência analítica para antecipar riscos de inadimplência e identificar padrões de liquidez.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79" name="Google Shape;179;p20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Proposta de Solução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180" name="Google Shape;180;p20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25625" y="2802700"/>
            <a:ext cx="41463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AF7B51"/>
              </a:buClr>
              <a:buSzPts val="1500"/>
              <a:buFont typeface="Calibri"/>
              <a:buChar char="●"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 de dados internos e externos: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Cruzar as bases da Núclea com dados públicos (BACEN, IBGE, Serasa) para enriquecer os perfis de cedentes e sacados.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500"/>
              <a:buFont typeface="Calibri"/>
              <a:buChar char="●"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Modelagem preditiva: 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plicar técnicas de machine learning (regressão logística, random forest, gradient boosting) para estimar a probabilidade de pagamento.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571925" y="2802700"/>
            <a:ext cx="4369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AF7B51"/>
              </a:buClr>
              <a:buSzPts val="1500"/>
              <a:buFont typeface="Calibri"/>
              <a:buChar char="●"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Painel de monitoramento: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dashboards dinâmicos que exibem indicadores de risco, liquidez, concentração e evolução do mercado.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ts val="1500"/>
              <a:buFont typeface="Calibri"/>
              <a:buChar char="●"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Alertas inteligentes: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geração de insights automáticos sobre deterioração de carteiras ou aumento de risco setorial.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Impactos da Solução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50625" y="2535400"/>
            <a:ext cx="131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Econômico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1977750" y="2535400"/>
            <a:ext cx="665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Redução de perdas por inadimplência e otimização da alocação de capital em fundos.</a:t>
            </a:r>
            <a:endParaRPr i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50625" y="3114625"/>
            <a:ext cx="131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970700" y="3114625"/>
            <a:ext cx="661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Fortalecimento da confiança no mercado de crédito, impulsionando o acesso de pequenas e médias empresas a financiamentos via FIDC.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50625" y="3693850"/>
            <a:ext cx="131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Tecnológico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970700" y="3693850"/>
            <a:ext cx="7071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Consolidação da Núclea como referência em data-driven finance no Brasil.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50625" y="4129800"/>
            <a:ext cx="131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Governança</a:t>
            </a:r>
            <a:endParaRPr b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970688" y="4129799"/>
            <a:ext cx="661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i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Aumento da transparência e alinhamento com boas práticas regulatórias (CVM Resolução 175).</a:t>
            </a:r>
            <a:endParaRPr i="1"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1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ctr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Benefícios Esperados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202" name="Google Shape;202;p22" title="ChatGPT Image 7 de nov. de 2025, 16_37_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>
            <p:ph idx="4294967295" type="body"/>
          </p:nvPr>
        </p:nvSpPr>
        <p:spPr>
          <a:xfrm>
            <a:off x="724300" y="2188350"/>
            <a:ext cx="77589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-184477" lvl="0" marL="1778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AF7B51"/>
              </a:buClr>
              <a:buSzPct val="100000"/>
              <a:buFont typeface="Noto Sans Symbols"/>
              <a:buChar char="●"/>
            </a:pPr>
            <a:r>
              <a:rPr lang="pt-BR" sz="6020"/>
              <a:t>Previsão antecipada de inadimplência, reduzindo riscos e perdas.</a:t>
            </a:r>
            <a:endParaRPr sz="6020"/>
          </a:p>
          <a:p>
            <a:pPr indent="-184477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0000"/>
              <a:buFont typeface="Noto Sans Symbols"/>
              <a:buChar char="●"/>
            </a:pPr>
            <a:r>
              <a:rPr lang="pt-BR" sz="6020"/>
              <a:t>Aumento da eficiência analítica e redução do tempo de análise de carteiras.</a:t>
            </a:r>
            <a:endParaRPr sz="6020"/>
          </a:p>
          <a:p>
            <a:pPr indent="-184477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0000"/>
              <a:buFont typeface="Noto Sans Symbols"/>
              <a:buChar char="●"/>
            </a:pPr>
            <a:r>
              <a:rPr lang="pt-BR" sz="6020"/>
              <a:t>Maior transparência e confiança para investidores e reguladores.</a:t>
            </a:r>
            <a:endParaRPr sz="6020"/>
          </a:p>
          <a:p>
            <a:pPr indent="-184477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0000"/>
              <a:buFont typeface="Noto Sans Symbols"/>
              <a:buChar char="●"/>
            </a:pPr>
            <a:r>
              <a:rPr lang="pt-BR" sz="6020"/>
              <a:t>Identificação de oportunidades de rentabilidade com base em dados históricos e comportamentais.</a:t>
            </a:r>
            <a:endParaRPr sz="6020"/>
          </a:p>
          <a:p>
            <a:pPr indent="-184150" lvl="0" marL="1778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AF7B51"/>
              </a:buClr>
              <a:buSzPct val="100000"/>
              <a:buFont typeface="Noto Sans Symbols"/>
              <a:buChar char="●"/>
            </a:pPr>
            <a:r>
              <a:rPr lang="pt-BR" sz="6000"/>
              <a:t>Aprimoramento contínuo via aprendizado dos modelos com novos dados.</a:t>
            </a:r>
            <a:endParaRPr sz="6000"/>
          </a:p>
          <a:p>
            <a:pPr indent="-762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6153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ctr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Benefícios Esperados</a:t>
            </a:r>
            <a:endParaRPr sz="3500">
              <a:solidFill>
                <a:schemeClr val="dk1"/>
              </a:solidFill>
            </a:endParaRPr>
          </a:p>
        </p:txBody>
      </p:sp>
      <p:pic>
        <p:nvPicPr>
          <p:cNvPr id="209" name="Google Shape;209;p23" title="ChatGPT Image 7 de nov. de 2025, 16_37_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>
            <p:ph idx="4294967295" type="body"/>
          </p:nvPr>
        </p:nvSpPr>
        <p:spPr>
          <a:xfrm>
            <a:off x="424800" y="2228075"/>
            <a:ext cx="7453200" cy="18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6000"/>
              <a:t>Métricas de sucesso:</a:t>
            </a:r>
            <a:endParaRPr b="1" sz="6000"/>
          </a:p>
          <a:p>
            <a:pPr indent="-184150" lvl="0" marL="6350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AF7B51"/>
              </a:buClr>
              <a:buSzPct val="100000"/>
              <a:buChar char="●"/>
            </a:pPr>
            <a:r>
              <a:rPr lang="pt-BR" sz="6000"/>
              <a:t>Redução de até 20% na inadimplência média em carteiras simuladas.</a:t>
            </a:r>
            <a:endParaRPr sz="6000"/>
          </a:p>
          <a:p>
            <a:pPr indent="-184150" lvl="0" marL="635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0000"/>
              <a:buChar char="●"/>
            </a:pPr>
            <a:r>
              <a:rPr lang="pt-BR" sz="6000"/>
              <a:t>Melhoria de 30% na precisão das previsões de risco.</a:t>
            </a:r>
            <a:endParaRPr sz="6000"/>
          </a:p>
          <a:p>
            <a:pPr indent="-184150" lvl="0" marL="635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F7B51"/>
              </a:buClr>
              <a:buSzPct val="100000"/>
              <a:buChar char="●"/>
            </a:pPr>
            <a:r>
              <a:rPr lang="pt-BR" sz="6000"/>
              <a:t>Aumento de liquidez em fundos com perfis ajustados por dados.</a:t>
            </a:r>
            <a:endParaRPr sz="6000"/>
          </a:p>
          <a:p>
            <a:pPr indent="0" lvl="0" marL="10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6153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Comparativo com a Concorrência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466325" y="2264875"/>
            <a:ext cx="8096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Atualmente, o mercado de FIDCs opera majoritariamente com </a:t>
            </a: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modelos de avaliação manuais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 relatórios de risco fragmentados. As principais consultorias e plataformas utilizam dados históricos e demonstrativos financeiros, mas </a:t>
            </a: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sem integração direta a dados transacionais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em tempo real. O </a:t>
            </a: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FIDC Analytics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se diferencia ao propor uma análise </a:t>
            </a:r>
            <a:r>
              <a:rPr b="1"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preditiva e automatizada</a:t>
            </a:r>
            <a:r>
              <a:rPr lang="pt-BR" sz="1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integrando dados da Núclea com fontes externas (BACEN, Serasa, IBGE) para gerar uma visão completa da qualidade dos ativos.</a:t>
            </a:r>
            <a:endParaRPr sz="15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4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type="title"/>
          </p:nvPr>
        </p:nvSpPr>
        <p:spPr>
          <a:xfrm>
            <a:off x="150" y="0"/>
            <a:ext cx="9144000" cy="74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pt-BR" sz="3500">
                <a:solidFill>
                  <a:schemeClr val="dk1"/>
                </a:solidFill>
              </a:rPr>
              <a:t>Comparativo com a Concorrência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454500" y="2056288"/>
            <a:ext cx="82350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Essa diferenciação posiciona o projeto como um </a:t>
            </a:r>
            <a:r>
              <a:rPr b="1"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pioneiro em inteligência analítica para o mercado FIDC</a:t>
            </a: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, fortalecendo o papel da Núclea como hub de dados e mitigador de risco no sistema financeiro.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5" title="ChatGPT Image 7 de nov. de 2025, 16_37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7475" y="556375"/>
            <a:ext cx="2963201" cy="1869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5" name="Google Shape;225;p25"/>
          <p:cNvGraphicFramePr/>
          <p:nvPr/>
        </p:nvGraphicFramePr>
        <p:xfrm>
          <a:off x="416875" y="2722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{ECA832DE-1CD5-4FB4-9ADE-3C5A31821208}</a:tableStyleId>
              </a:tblPr>
              <a:tblGrid>
                <a:gridCol w="2078300"/>
                <a:gridCol w="2903125"/>
                <a:gridCol w="3253575"/>
              </a:tblGrid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Critério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Mercado atual 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FIDC Analytics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Avaliação de risco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Manual e reativa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Preditiva e automatizada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de dados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Fragmentada (fontes isoladas)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Integrada (Núclea + externas)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Transparência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Relatórios periódicos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Dashboards em tempo real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Governança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Compliance básico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Alinhado à Resolução CVM 175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Inovação tecnológica</a:t>
                      </a:r>
                      <a:endParaRPr b="1"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Baixa adoção de IA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>
                          <a:solidFill>
                            <a:schemeClr val="dk2"/>
                          </a:solidFill>
                        </a:rPr>
                        <a:t>     Aplicação direta de machine learning</a:t>
                      </a:r>
                      <a:endParaRPr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6" name="Google Shape;22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000" y="3194825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000" y="3555600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000" y="3916375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000" y="4277150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000" y="4637925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775" y="3194825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775" y="3555600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775" y="3916375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775" y="4277150"/>
            <a:ext cx="178200" cy="1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44775" y="4637925"/>
            <a:ext cx="178200" cy="1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 txBox="1"/>
          <p:nvPr>
            <p:ph type="ctrTitle"/>
          </p:nvPr>
        </p:nvSpPr>
        <p:spPr>
          <a:xfrm>
            <a:off x="480050" y="307575"/>
            <a:ext cx="5254800" cy="127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pt-BR" sz="3500">
                <a:solidFill>
                  <a:schemeClr val="dk2"/>
                </a:solidFill>
              </a:rPr>
              <a:t>Finalização e Agradecimentos</a:t>
            </a:r>
            <a:r>
              <a:rPr lang="pt-BR" sz="5000">
                <a:solidFill>
                  <a:schemeClr val="dk2"/>
                </a:solidFill>
              </a:rPr>
              <a:t>	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2" name="Google Shape;242;p26"/>
          <p:cNvSpPr txBox="1"/>
          <p:nvPr>
            <p:ph idx="1" type="subTitle"/>
          </p:nvPr>
        </p:nvSpPr>
        <p:spPr>
          <a:xfrm>
            <a:off x="480050" y="2004225"/>
            <a:ext cx="8271000" cy="2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500">
                <a:solidFill>
                  <a:schemeClr val="dk2"/>
                </a:solidFill>
              </a:rPr>
              <a:t>A realização deste projeto só foi possível graças ao empenho, à competência e à colaboração de cada integrante do grupo.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500">
                <a:solidFill>
                  <a:schemeClr val="dk2"/>
                </a:solidFill>
              </a:rPr>
              <a:t>Agradecemos a todos os colegas da turma que contribuíram com ideias, análises e insights valiosos em cada etapa — da ideação à consolidação da solução. O comprometimento, a troca de conhecimento e o espírito de equipe foram fundamentais para transformar o </a:t>
            </a:r>
            <a:r>
              <a:rPr b="1" lang="pt-BR" sz="1500">
                <a:solidFill>
                  <a:schemeClr val="dk2"/>
                </a:solidFill>
              </a:rPr>
              <a:t>FIDC Analytics</a:t>
            </a:r>
            <a:r>
              <a:rPr lang="pt-BR" sz="1500">
                <a:solidFill>
                  <a:schemeClr val="dk2"/>
                </a:solidFill>
              </a:rPr>
              <a:t> em um projeto sólido, inovador e alinhado às exigências do mercado.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>
                <a:solidFill>
                  <a:schemeClr val="dk2"/>
                </a:solidFill>
              </a:rPr>
              <a:t>Também expressamos nosso reconhecimento à </a:t>
            </a:r>
            <a:r>
              <a:rPr b="1" lang="pt-BR" sz="1500">
                <a:solidFill>
                  <a:schemeClr val="dk2"/>
                </a:solidFill>
              </a:rPr>
              <a:t>FIAP</a:t>
            </a:r>
            <a:r>
              <a:rPr lang="pt-BR" sz="1500">
                <a:solidFill>
                  <a:schemeClr val="dk2"/>
                </a:solidFill>
              </a:rPr>
              <a:t> e à </a:t>
            </a:r>
            <a:r>
              <a:rPr b="1" lang="pt-BR" sz="1500">
                <a:solidFill>
                  <a:schemeClr val="dk2"/>
                </a:solidFill>
              </a:rPr>
              <a:t>Núclea</a:t>
            </a:r>
            <a:r>
              <a:rPr lang="pt-BR" sz="1500">
                <a:solidFill>
                  <a:schemeClr val="dk2"/>
                </a:solidFill>
              </a:rPr>
              <a:t>, pela oportunidade de aplicar na prática os conhecimentos de ciência de dados em um desafio real e relevante para o setor financeiro. </a:t>
            </a:r>
            <a:r>
              <a:rPr b="1" lang="pt-BR" sz="1500">
                <a:solidFill>
                  <a:schemeClr val="dk2"/>
                </a:solidFill>
              </a:rPr>
              <a:t>Nosso resultado reflete não apenas técnica e dedicação, mas a força de um trabalho colaborativo guiado pela excelência.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80047" y="1746325"/>
            <a:ext cx="3182692" cy="13716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